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80" kern="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TALLYBOOK  ·  RAZORPAY BUILDATHON 2026  ·  AI FINANCE CONTROLLER TRACK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04672" y="1371600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TallyBook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841248" y="248716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BE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Finance Controller &amp; Bank Reconciliation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41248" y="3054096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multi-pass autonomous settlement, continuous cash positioning, and SOX-compliant audit ledger — rules-first, AI only where rules structurally cannot resolve a match.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41248" y="4114800"/>
            <a:ext cx="1986077" cy="566928"/>
          </a:xfrm>
          <a:prstGeom prst="roundRect">
            <a:avLst>
              <a:gd name="adj" fmla="val 17742"/>
            </a:avLst>
          </a:prstGeom>
          <a:solidFill>
            <a:srgbClr val="22252A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4114800"/>
            <a:ext cx="198607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36469" y="4297680"/>
            <a:ext cx="128016" cy="201168"/>
          </a:xfrm>
          <a:prstGeom prst="chevron">
            <a:avLst/>
          </a:prstGeom>
          <a:solidFill>
            <a:srgbClr val="3A3D42"/>
          </a:solidFill>
          <a:ln/>
        </p:spPr>
      </p:sp>
      <p:sp>
        <p:nvSpPr>
          <p:cNvPr id="9" name="Shape 7"/>
          <p:cNvSpPr/>
          <p:nvPr/>
        </p:nvSpPr>
        <p:spPr>
          <a:xfrm>
            <a:off x="2973629" y="4114800"/>
            <a:ext cx="1986077" cy="566928"/>
          </a:xfrm>
          <a:prstGeom prst="roundRect">
            <a:avLst>
              <a:gd name="adj" fmla="val 17742"/>
            </a:avLst>
          </a:prstGeom>
          <a:solidFill>
            <a:srgbClr val="22252A"/>
          </a:solidFill>
          <a:ln/>
        </p:spPr>
      </p:sp>
      <p:sp>
        <p:nvSpPr>
          <p:cNvPr id="10" name="Text 8"/>
          <p:cNvSpPr/>
          <p:nvPr/>
        </p:nvSpPr>
        <p:spPr>
          <a:xfrm>
            <a:off x="2973629" y="4114800"/>
            <a:ext cx="198607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1: Exact Match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68850" y="4297680"/>
            <a:ext cx="128016" cy="201168"/>
          </a:xfrm>
          <a:prstGeom prst="chevron">
            <a:avLst/>
          </a:prstGeom>
          <a:solidFill>
            <a:srgbClr val="3A3D42"/>
          </a:solidFill>
          <a:ln/>
        </p:spPr>
      </p:sp>
      <p:sp>
        <p:nvSpPr>
          <p:cNvPr id="12" name="Shape 10"/>
          <p:cNvSpPr/>
          <p:nvPr/>
        </p:nvSpPr>
        <p:spPr>
          <a:xfrm>
            <a:off x="5106010" y="4114800"/>
            <a:ext cx="1986077" cy="566928"/>
          </a:xfrm>
          <a:prstGeom prst="roundRect">
            <a:avLst>
              <a:gd name="adj" fmla="val 17742"/>
            </a:avLst>
          </a:prstGeom>
          <a:solidFill>
            <a:srgbClr val="22252A"/>
          </a:solidFill>
          <a:ln/>
        </p:spPr>
      </p:sp>
      <p:sp>
        <p:nvSpPr>
          <p:cNvPr id="13" name="Text 11"/>
          <p:cNvSpPr/>
          <p:nvPr/>
        </p:nvSpPr>
        <p:spPr>
          <a:xfrm>
            <a:off x="5106010" y="4114800"/>
            <a:ext cx="198607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2: Tolerances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01230" y="4297680"/>
            <a:ext cx="128016" cy="201168"/>
          </a:xfrm>
          <a:prstGeom prst="chevron">
            <a:avLst/>
          </a:prstGeom>
          <a:solidFill>
            <a:srgbClr val="3A3D42"/>
          </a:solidFill>
          <a:ln/>
        </p:spPr>
      </p:sp>
      <p:sp>
        <p:nvSpPr>
          <p:cNvPr id="15" name="Shape 13"/>
          <p:cNvSpPr/>
          <p:nvPr/>
        </p:nvSpPr>
        <p:spPr>
          <a:xfrm>
            <a:off x="7238390" y="4114800"/>
            <a:ext cx="1986077" cy="566928"/>
          </a:xfrm>
          <a:prstGeom prst="roundRect">
            <a:avLst>
              <a:gd name="adj" fmla="val 17742"/>
            </a:avLst>
          </a:prstGeom>
          <a:solidFill>
            <a:srgbClr val="FBE1D1"/>
          </a:solidFill>
          <a:ln/>
        </p:spPr>
      </p:sp>
      <p:sp>
        <p:nvSpPr>
          <p:cNvPr id="16" name="Text 14"/>
          <p:cNvSpPr/>
          <p:nvPr/>
        </p:nvSpPr>
        <p:spPr>
          <a:xfrm>
            <a:off x="7238390" y="4114800"/>
            <a:ext cx="198607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3: AI Semantic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33611" y="4297680"/>
            <a:ext cx="128016" cy="201168"/>
          </a:xfrm>
          <a:prstGeom prst="chevron">
            <a:avLst/>
          </a:prstGeom>
          <a:solidFill>
            <a:srgbClr val="3A3D42"/>
          </a:solidFill>
          <a:ln/>
        </p:spPr>
      </p:sp>
      <p:sp>
        <p:nvSpPr>
          <p:cNvPr id="18" name="Shape 16"/>
          <p:cNvSpPr/>
          <p:nvPr/>
        </p:nvSpPr>
        <p:spPr>
          <a:xfrm>
            <a:off x="9370771" y="4114800"/>
            <a:ext cx="1986077" cy="566928"/>
          </a:xfrm>
          <a:prstGeom prst="roundRect">
            <a:avLst>
              <a:gd name="adj" fmla="val 17742"/>
            </a:avLst>
          </a:prstGeom>
          <a:solidFill>
            <a:srgbClr val="22252A"/>
          </a:solidFill>
          <a:ln/>
        </p:spPr>
      </p:sp>
      <p:sp>
        <p:nvSpPr>
          <p:cNvPr id="19" name="Text 17"/>
          <p:cNvSpPr/>
          <p:nvPr/>
        </p:nvSpPr>
        <p:spPr>
          <a:xfrm>
            <a:off x="9370771" y="4114800"/>
            <a:ext cx="198607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SOX Audit Chain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41248" y="5029200"/>
            <a:ext cx="1162202" cy="384048"/>
          </a:xfrm>
          <a:prstGeom prst="roundRect">
            <a:avLst>
              <a:gd name="adj" fmla="val 50000"/>
            </a:avLst>
          </a:prstGeom>
          <a:solidFill>
            <a:srgbClr val="22252A"/>
          </a:solidFill>
          <a:ln w="9525">
            <a:solidFill>
              <a:srgbClr val="3A3D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5029200"/>
            <a:ext cx="11622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149754" y="5029200"/>
            <a:ext cx="2352751" cy="384048"/>
          </a:xfrm>
          <a:prstGeom prst="roundRect">
            <a:avLst>
              <a:gd name="adj" fmla="val 50000"/>
            </a:avLst>
          </a:prstGeom>
          <a:solidFill>
            <a:srgbClr val="22252A"/>
          </a:solidFill>
          <a:ln w="9525">
            <a:solidFill>
              <a:srgbClr val="3A3D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49754" y="5029200"/>
            <a:ext cx="23527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48810" y="5029200"/>
            <a:ext cx="2012594" cy="384048"/>
          </a:xfrm>
          <a:prstGeom prst="roundRect">
            <a:avLst>
              <a:gd name="adj" fmla="val 50000"/>
            </a:avLst>
          </a:prstGeom>
          <a:solidFill>
            <a:srgbClr val="22252A"/>
          </a:solidFill>
          <a:ln w="9525">
            <a:solidFill>
              <a:srgbClr val="3A3D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48810" y="5029200"/>
            <a:ext cx="20125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SOX 404 Compliant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07708" y="5029200"/>
            <a:ext cx="2012594" cy="384048"/>
          </a:xfrm>
          <a:prstGeom prst="roundRect">
            <a:avLst>
              <a:gd name="adj" fmla="val 50000"/>
            </a:avLst>
          </a:prstGeom>
          <a:solidFill>
            <a:srgbClr val="22252A"/>
          </a:solidFill>
          <a:ln w="9525">
            <a:solidFill>
              <a:srgbClr val="3A3D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07708" y="5029200"/>
            <a:ext cx="20125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HackerGPT-Audited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966606" y="5029200"/>
            <a:ext cx="2097634" cy="384048"/>
          </a:xfrm>
          <a:prstGeom prst="roundRect">
            <a:avLst>
              <a:gd name="adj" fmla="val 50000"/>
            </a:avLst>
          </a:prstGeom>
          <a:solidFill>
            <a:srgbClr val="22252A"/>
          </a:solidFill>
          <a:ln w="9525">
            <a:solidFill>
              <a:srgbClr val="3A3D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66606" y="5029200"/>
            <a:ext cx="20976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$6.43B TAM by 2030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41248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books. Trust the exceptions.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183112" y="6355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17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Reconciliation is still the #2 named SME pain point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ranking across 2,400+ accounting automation product demos (IBS Intelligence, 2026)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0" cy="4434840"/>
          </a:xfrm>
          <a:prstGeom prst="roundRect">
            <a:avLst>
              <a:gd name="adj" fmla="val 3711"/>
            </a:avLst>
          </a:prstGeom>
          <a:solidFill>
            <a:srgbClr val="F2F2F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019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20" kern="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PAIN POINT RANKING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 Accounts Payable / Bill Processing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14400" y="2706624"/>
            <a:ext cx="3383280" cy="256032"/>
          </a:xfrm>
          <a:prstGeom prst="roundRect">
            <a:avLst>
              <a:gd name="adj" fmla="val 21429"/>
            </a:avLst>
          </a:prstGeom>
          <a:solidFill>
            <a:srgbClr val="979799"/>
          </a:solidFill>
          <a:ln/>
        </p:spPr>
      </p:sp>
      <p:sp>
        <p:nvSpPr>
          <p:cNvPr id="8" name="Text 6"/>
          <p:cNvSpPr/>
          <p:nvPr/>
        </p:nvSpPr>
        <p:spPr>
          <a:xfrm>
            <a:off x="4407408" y="2679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69.6%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D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 Bank &amp; Credit Card Reconciliation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3575304"/>
            <a:ext cx="680545" cy="256032"/>
          </a:xfrm>
          <a:prstGeom prst="roundRect">
            <a:avLst>
              <a:gd name="adj" fmla="val 21429"/>
            </a:avLst>
          </a:prstGeom>
          <a:solidFill>
            <a:srgbClr val="5D2A1A"/>
          </a:solidFill>
          <a:ln/>
        </p:spPr>
      </p:sp>
      <p:sp>
        <p:nvSpPr>
          <p:cNvPr id="11" name="Text 9"/>
          <p:cNvSpPr/>
          <p:nvPr/>
        </p:nvSpPr>
        <p:spPr>
          <a:xfrm>
            <a:off x="1704673" y="354787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D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41148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 GST Return Reconciliation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" y="4443984"/>
            <a:ext cx="393744" cy="256032"/>
          </a:xfrm>
          <a:prstGeom prst="roundRect">
            <a:avLst>
              <a:gd name="adj" fmla="val 21429"/>
            </a:avLst>
          </a:prstGeom>
          <a:solidFill>
            <a:srgbClr val="979799"/>
          </a:solidFill>
          <a:ln/>
        </p:spPr>
      </p:sp>
      <p:sp>
        <p:nvSpPr>
          <p:cNvPr id="14" name="Text 12"/>
          <p:cNvSpPr/>
          <p:nvPr/>
        </p:nvSpPr>
        <p:spPr>
          <a:xfrm>
            <a:off x="1417872" y="441655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8.1%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4400" y="51206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TallyBook targets the #2 bottleneck directly — bank &amp; credit card reconciliation.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566928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37.3% of demo attendees were founders/owners themselves — converting at 10.7%, the highest of any buyer category.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1691640"/>
            <a:ext cx="5394960" cy="4434840"/>
          </a:xfrm>
          <a:prstGeom prst="roundRect">
            <a:avLst>
              <a:gd name="adj" fmla="val 3711"/>
            </a:avLst>
          </a:prstGeom>
          <a:solidFill>
            <a:srgbClr val="FBE1D1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19019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5D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2331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D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is the bottleneck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92240" y="2660904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D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already generate answers — the 2026 consensus is that checking whether they're right is the unsolved problem.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92240" y="36301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D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Continuous, not month-end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492240" y="395935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D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shifting from manual month-end crunches to AI-assisted, continuous real-time ledger auditing.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92240" y="492861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D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MSMEs are already digital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92240" y="52578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D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70%+ prefer smartphones, 43% use UPI, 97% use WhatsApp Business. 68% report growth post-digitalization — the receptivity exists.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183112" y="6355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7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multi-tier decision matrix — not a black box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statement line cascades through deterministic tiers before AI ever touches it — unmatched records fall through to the next tier, then branch by confidence.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3401568" cy="2286000"/>
          </a:xfrm>
          <a:prstGeom prst="roundRect">
            <a:avLst>
              <a:gd name="adj" fmla="val 5600"/>
            </a:avLst>
          </a:prstGeom>
          <a:solidFill>
            <a:srgbClr val="F2F2F3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" y="15910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· DETERMINISTIC EXACT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86384" y="1984248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1984248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Amount + Reference ID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328416" y="198424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86384" y="25603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3000" y="2560320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Amount + Same-Day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28416" y="256032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86384" y="3136392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3000" y="3136392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 Split Voucher Consolidation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28416" y="3136392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0" y="2478024"/>
            <a:ext cx="182880" cy="292608"/>
          </a:xfrm>
          <a:prstGeom prst="chevron">
            <a:avLst/>
          </a:prstGeom>
          <a:solidFill>
            <a:srgbClr val="979799"/>
          </a:solidFill>
          <a:ln/>
        </p:spPr>
      </p:sp>
      <p:sp>
        <p:nvSpPr>
          <p:cNvPr id="16" name="Shape 14"/>
          <p:cNvSpPr/>
          <p:nvPr/>
        </p:nvSpPr>
        <p:spPr>
          <a:xfrm>
            <a:off x="4352544" y="1481328"/>
            <a:ext cx="3401568" cy="2286000"/>
          </a:xfrm>
          <a:prstGeom prst="roundRect">
            <a:avLst>
              <a:gd name="adj" fmla="val 5600"/>
            </a:avLst>
          </a:prstGeom>
          <a:solidFill>
            <a:srgbClr val="F2F2F3"/>
          </a:solidFill>
          <a:ln/>
        </p:spPr>
      </p:sp>
      <p:sp>
        <p:nvSpPr>
          <p:cNvPr id="17" name="Text 15"/>
          <p:cNvSpPr/>
          <p:nvPr/>
        </p:nvSpPr>
        <p:spPr>
          <a:xfrm>
            <a:off x="4498848" y="15910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· ACCOUNTING TOLERANCES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98848" y="1984248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55464" y="1984248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Creep / Wire Deduction ≤ $15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040880" y="198424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498848" y="25603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55464" y="2560320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Lag Window ≤ 3 Days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040880" y="256032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827264" y="2478024"/>
            <a:ext cx="182880" cy="292608"/>
          </a:xfrm>
          <a:prstGeom prst="chevron">
            <a:avLst/>
          </a:prstGeom>
          <a:solidFill>
            <a:srgbClr val="979799"/>
          </a:solidFill>
          <a:ln/>
        </p:spPr>
      </p:sp>
      <p:sp>
        <p:nvSpPr>
          <p:cNvPr id="25" name="Shape 23"/>
          <p:cNvSpPr/>
          <p:nvPr/>
        </p:nvSpPr>
        <p:spPr>
          <a:xfrm>
            <a:off x="8065008" y="1481328"/>
            <a:ext cx="3401568" cy="2286000"/>
          </a:xfrm>
          <a:prstGeom prst="roundRect">
            <a:avLst>
              <a:gd name="adj" fmla="val 5600"/>
            </a:avLst>
          </a:prstGeom>
          <a:solidFill>
            <a:srgbClr val="FBE1D1"/>
          </a:solidFill>
          <a:ln/>
        </p:spPr>
      </p:sp>
      <p:sp>
        <p:nvSpPr>
          <p:cNvPr id="26" name="Text 24"/>
          <p:cNvSpPr/>
          <p:nvPr/>
        </p:nvSpPr>
        <p:spPr>
          <a:xfrm>
            <a:off x="8211312" y="15910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5D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· SEMANTIC (AI)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211312" y="1984248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D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67928" y="1984248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D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Counterparty Normalization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0753344" y="198424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D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211312" y="25603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D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67928" y="2560320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D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3.3 70B Reasoning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753344" y="256032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D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60036" y="4224528"/>
            <a:ext cx="2468880" cy="685800"/>
          </a:xfrm>
          <a:prstGeom prst="diamond">
            <a:avLst/>
          </a:prstGeom>
          <a:solidFill>
            <a:srgbClr val="17191C"/>
          </a:solidFill>
          <a:ln/>
        </p:spPr>
      </p:sp>
      <p:sp>
        <p:nvSpPr>
          <p:cNvPr id="34" name="Text 32"/>
          <p:cNvSpPr/>
          <p:nvPr/>
        </p:nvSpPr>
        <p:spPr>
          <a:xfrm>
            <a:off x="4860036" y="422452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SCORE?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 flipH="1">
            <a:off x="2423160" y="4910328"/>
            <a:ext cx="3671316" cy="502920"/>
          </a:xfrm>
          <a:prstGeom prst="line">
            <a:avLst/>
          </a:prstGeom>
          <a:noFill/>
          <a:ln w="22225">
            <a:solidFill>
              <a:srgbClr val="3E7A56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3664458" y="5015484"/>
            <a:ext cx="11887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E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80%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0080" y="5413248"/>
            <a:ext cx="3566160" cy="777240"/>
          </a:xfrm>
          <a:prstGeom prst="roundRect">
            <a:avLst>
              <a:gd name="adj" fmla="val 16471"/>
            </a:avLst>
          </a:prstGeom>
          <a:solidFill>
            <a:srgbClr val="3E7A56"/>
          </a:solidFill>
          <a:ln/>
        </p:spPr>
      </p:sp>
      <p:sp>
        <p:nvSpPr>
          <p:cNvPr id="38" name="Text 36"/>
          <p:cNvSpPr/>
          <p:nvPr/>
        </p:nvSpPr>
        <p:spPr>
          <a:xfrm>
            <a:off x="804672" y="550468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MATCH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04672" y="583387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Auto-cleared, zero touch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094476" y="4910328"/>
            <a:ext cx="4572" cy="502920"/>
          </a:xfrm>
          <a:prstGeom prst="line">
            <a:avLst/>
          </a:prstGeom>
          <a:noFill/>
          <a:ln w="22225">
            <a:solidFill>
              <a:srgbClr val="B8863B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5502402" y="5015484"/>
            <a:ext cx="11887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55–80%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315968" y="5413248"/>
            <a:ext cx="3566160" cy="777240"/>
          </a:xfrm>
          <a:prstGeom prst="roundRect">
            <a:avLst>
              <a:gd name="adj" fmla="val 16471"/>
            </a:avLst>
          </a:prstGeom>
          <a:solidFill>
            <a:srgbClr val="B8863B"/>
          </a:solidFill>
          <a:ln/>
        </p:spPr>
      </p:sp>
      <p:sp>
        <p:nvSpPr>
          <p:cNvPr id="43" name="Text 41"/>
          <p:cNvSpPr/>
          <p:nvPr/>
        </p:nvSpPr>
        <p:spPr>
          <a:xfrm>
            <a:off x="4480560" y="550468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EXCEPTION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480560" y="583387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review queue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094476" y="4910328"/>
            <a:ext cx="3671316" cy="502920"/>
          </a:xfrm>
          <a:prstGeom prst="line">
            <a:avLst/>
          </a:prstGeom>
          <a:noFill/>
          <a:ln w="22225">
            <a:solidFill>
              <a:srgbClr val="A8433A"/>
            </a:solidFill>
            <a:prstDash val="solid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7335774" y="5015484"/>
            <a:ext cx="11887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4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55%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982712" y="5413248"/>
            <a:ext cx="3566160" cy="777240"/>
          </a:xfrm>
          <a:prstGeom prst="roundRect">
            <a:avLst>
              <a:gd name="adj" fmla="val 16471"/>
            </a:avLst>
          </a:prstGeom>
          <a:solidFill>
            <a:srgbClr val="A8433A"/>
          </a:solidFill>
          <a:ln/>
        </p:spPr>
      </p:sp>
      <p:sp>
        <p:nvSpPr>
          <p:cNvPr id="48" name="Text 46"/>
          <p:cNvSpPr/>
          <p:nvPr/>
        </p:nvSpPr>
        <p:spPr>
          <a:xfrm>
            <a:off x="8147304" y="550468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TRIAGE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147304" y="583387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categorized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1183112" y="6355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7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engineering problems, deliberately solved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AI usage &amp; development log — the hurdles hit while building TallyBook, and how each was closed.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794760" cy="1024128"/>
          </a:xfrm>
          <a:prstGeom prst="roundRect">
            <a:avLst>
              <a:gd name="adj" fmla="val 11607"/>
            </a:avLst>
          </a:prstGeom>
          <a:solidFill>
            <a:srgbClr val="22252A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" y="1783080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E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Cherry-picked match bias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86384" y="2093976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demos often assert unsubstantiated 100% accuracy on hand-picked data.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26280" y="2048256"/>
            <a:ext cx="566928" cy="310896"/>
          </a:xfrm>
          <a:prstGeom prst="chevron">
            <a:avLst/>
          </a:prstGeom>
          <a:solidFill>
            <a:srgbClr val="979799"/>
          </a:solidFill>
          <a:ln/>
        </p:spPr>
      </p:sp>
      <p:sp>
        <p:nvSpPr>
          <p:cNvPr id="8" name="Shape 6"/>
          <p:cNvSpPr/>
          <p:nvPr/>
        </p:nvSpPr>
        <p:spPr>
          <a:xfrm>
            <a:off x="5184648" y="1691640"/>
            <a:ext cx="6336792" cy="1024128"/>
          </a:xfrm>
          <a:prstGeom prst="roundRect">
            <a:avLst>
              <a:gd name="adj" fmla="val 11607"/>
            </a:avLst>
          </a:prstGeom>
          <a:solidFill>
            <a:srgbClr val="F2F2F3"/>
          </a:solidFill>
          <a:ln/>
        </p:spPr>
      </p:sp>
      <p:sp>
        <p:nvSpPr>
          <p:cNvPr id="9" name="Text 7"/>
          <p:cNvSpPr/>
          <p:nvPr/>
        </p:nvSpPr>
        <p:spPr>
          <a:xfrm>
            <a:off x="5349240" y="1764792"/>
            <a:ext cx="6007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D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349240" y="1993392"/>
            <a:ext cx="6007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101-record synthetic ground-truth batch — fee creeps, date offsets, split disbursements, and a genuine unresolvable tail.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843784"/>
            <a:ext cx="3794760" cy="1024128"/>
          </a:xfrm>
          <a:prstGeom prst="roundRect">
            <a:avLst>
              <a:gd name="adj" fmla="val 11607"/>
            </a:avLst>
          </a:prstGeom>
          <a:solidFill>
            <a:srgbClr val="22252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935224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E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“decorative AI” trap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86384" y="3246120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applying LLMs to standard math that deterministic code already handles better.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26280" y="3200400"/>
            <a:ext cx="566928" cy="310896"/>
          </a:xfrm>
          <a:prstGeom prst="chevron">
            <a:avLst/>
          </a:prstGeom>
          <a:solidFill>
            <a:srgbClr val="979799"/>
          </a:solidFill>
          <a:ln/>
        </p:spPr>
      </p:sp>
      <p:sp>
        <p:nvSpPr>
          <p:cNvPr id="15" name="Shape 13"/>
          <p:cNvSpPr/>
          <p:nvPr/>
        </p:nvSpPr>
        <p:spPr>
          <a:xfrm>
            <a:off x="5184648" y="2843784"/>
            <a:ext cx="6336792" cy="1024128"/>
          </a:xfrm>
          <a:prstGeom prst="roundRect">
            <a:avLst>
              <a:gd name="adj" fmla="val 11607"/>
            </a:avLst>
          </a:prstGeom>
          <a:solidFill>
            <a:srgbClr val="F2F2F3"/>
          </a:solidFill>
          <a:ln/>
        </p:spPr>
      </p:sp>
      <p:sp>
        <p:nvSpPr>
          <p:cNvPr id="16" name="Text 14"/>
          <p:cNvSpPr/>
          <p:nvPr/>
        </p:nvSpPr>
        <p:spPr>
          <a:xfrm>
            <a:off x="5349240" y="2916936"/>
            <a:ext cx="6007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D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349240" y="3145536"/>
            <a:ext cx="6007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Rules-first architecture: exact/tolerance matches stay deterministic — AI is invoked only for vendor normalization and justification synthesis.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995928"/>
            <a:ext cx="3794760" cy="1024128"/>
          </a:xfrm>
          <a:prstGeom prst="roundRect">
            <a:avLst>
              <a:gd name="adj" fmla="val 11607"/>
            </a:avLst>
          </a:prstGeom>
          <a:solidFill>
            <a:srgbClr val="22252A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" y="4087368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E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model accuracy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86384" y="4398264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 accuracy numbers in demos are routinely distrusted by evaluators.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26280" y="4352544"/>
            <a:ext cx="566928" cy="310896"/>
          </a:xfrm>
          <a:prstGeom prst="chevron">
            <a:avLst/>
          </a:prstGeom>
          <a:solidFill>
            <a:srgbClr val="979799"/>
          </a:solidFill>
          <a:ln/>
        </p:spPr>
      </p:sp>
      <p:sp>
        <p:nvSpPr>
          <p:cNvPr id="22" name="Shape 20"/>
          <p:cNvSpPr/>
          <p:nvPr/>
        </p:nvSpPr>
        <p:spPr>
          <a:xfrm>
            <a:off x="5184648" y="3995928"/>
            <a:ext cx="6336792" cy="1024128"/>
          </a:xfrm>
          <a:prstGeom prst="roundRect">
            <a:avLst>
              <a:gd name="adj" fmla="val 11607"/>
            </a:avLst>
          </a:prstGeom>
          <a:solidFill>
            <a:srgbClr val="F2F2F3"/>
          </a:solidFill>
          <a:ln/>
        </p:spPr>
      </p:sp>
      <p:sp>
        <p:nvSpPr>
          <p:cNvPr id="23" name="Text 21"/>
          <p:cNvSpPr/>
          <p:nvPr/>
        </p:nvSpPr>
        <p:spPr>
          <a:xfrm>
            <a:off x="5349240" y="4069080"/>
            <a:ext cx="6007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D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349240" y="4297680"/>
            <a:ext cx="6007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Ground-Truth Calibration view: claimed confidence plotted directly against verified accuracy, with false-match tracking.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5148072"/>
            <a:ext cx="3794760" cy="1024128"/>
          </a:xfrm>
          <a:prstGeom prst="roundRect">
            <a:avLst>
              <a:gd name="adj" fmla="val 11607"/>
            </a:avLst>
          </a:prstGeom>
          <a:solidFill>
            <a:srgbClr val="22252A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5239512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E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in the data layer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86384" y="5550408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scans surfaced SQL injection and XSS vectors in early user-input handling.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26280" y="5504688"/>
            <a:ext cx="566928" cy="310896"/>
          </a:xfrm>
          <a:prstGeom prst="chevron">
            <a:avLst/>
          </a:prstGeom>
          <a:solidFill>
            <a:srgbClr val="979799"/>
          </a:solidFill>
          <a:ln/>
        </p:spPr>
      </p:sp>
      <p:sp>
        <p:nvSpPr>
          <p:cNvPr id="29" name="Shape 27"/>
          <p:cNvSpPr/>
          <p:nvPr/>
        </p:nvSpPr>
        <p:spPr>
          <a:xfrm>
            <a:off x="5184648" y="5148072"/>
            <a:ext cx="6336792" cy="1024128"/>
          </a:xfrm>
          <a:prstGeom prst="roundRect">
            <a:avLst>
              <a:gd name="adj" fmla="val 11607"/>
            </a:avLst>
          </a:prstGeom>
          <a:solidFill>
            <a:srgbClr val="F2F2F3"/>
          </a:solidFill>
          <a:ln/>
        </p:spPr>
      </p:sp>
      <p:sp>
        <p:nvSpPr>
          <p:cNvPr id="30" name="Text 28"/>
          <p:cNvSpPr/>
          <p:nvPr/>
        </p:nvSpPr>
        <p:spPr>
          <a:xfrm>
            <a:off x="5349240" y="5221224"/>
            <a:ext cx="6007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D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349240" y="5449824"/>
            <a:ext cx="6007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to parameterized queries + output sanitization — re-scanned by HackerGPT, zero critical/high vulnerabilities.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183112" y="6355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over hype, backed by a tamper-evident ledger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2528316" cy="1417320"/>
          </a:xfrm>
          <a:prstGeom prst="roundRect">
            <a:avLst>
              <a:gd name="adj" fmla="val 9032"/>
            </a:avLst>
          </a:prstGeom>
          <a:solidFill>
            <a:srgbClr val="22252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25283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BE1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49808" y="2103120"/>
            <a:ext cx="23088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records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24428" y="1325880"/>
            <a:ext cx="2528316" cy="1417320"/>
          </a:xfrm>
          <a:prstGeom prst="roundRect">
            <a:avLst>
              <a:gd name="adj" fmla="val 9032"/>
            </a:avLst>
          </a:prstGeom>
          <a:solidFill>
            <a:srgbClr val="22252A"/>
          </a:solidFill>
          <a:ln/>
        </p:spPr>
      </p:sp>
      <p:sp>
        <p:nvSpPr>
          <p:cNvPr id="7" name="Text 5"/>
          <p:cNvSpPr/>
          <p:nvPr/>
        </p:nvSpPr>
        <p:spPr>
          <a:xfrm>
            <a:off x="3424428" y="1417320"/>
            <a:ext cx="25283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BE1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534156" y="2103120"/>
            <a:ext cx="23088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matches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08776" y="1325880"/>
            <a:ext cx="2528316" cy="1417320"/>
          </a:xfrm>
          <a:prstGeom prst="roundRect">
            <a:avLst>
              <a:gd name="adj" fmla="val 9032"/>
            </a:avLst>
          </a:prstGeom>
          <a:solidFill>
            <a:srgbClr val="22252A"/>
          </a:solidFill>
          <a:ln/>
        </p:spPr>
      </p:sp>
      <p:sp>
        <p:nvSpPr>
          <p:cNvPr id="10" name="Text 8"/>
          <p:cNvSpPr/>
          <p:nvPr/>
        </p:nvSpPr>
        <p:spPr>
          <a:xfrm>
            <a:off x="6208776" y="1417320"/>
            <a:ext cx="25283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BE1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318504" y="2103120"/>
            <a:ext cx="23088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exceptions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(fee / lag deltas)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993124" y="1325880"/>
            <a:ext cx="2528316" cy="1417320"/>
          </a:xfrm>
          <a:prstGeom prst="roundRect">
            <a:avLst>
              <a:gd name="adj" fmla="val 9032"/>
            </a:avLst>
          </a:prstGeom>
          <a:solidFill>
            <a:srgbClr val="22252A"/>
          </a:solidFill>
          <a:ln/>
        </p:spPr>
      </p:sp>
      <p:sp>
        <p:nvSpPr>
          <p:cNvPr id="13" name="Text 11"/>
          <p:cNvSpPr/>
          <p:nvPr/>
        </p:nvSpPr>
        <p:spPr>
          <a:xfrm>
            <a:off x="8993124" y="1417320"/>
            <a:ext cx="25283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BE1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9102852" y="2103120"/>
            <a:ext cx="23088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overrides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29992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20" kern="0" dirty="0">
                <a:solidFill>
                  <a:srgbClr val="FBE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SOX 404 CRYPTOGRAPHIC AUDIT CHAIN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364992"/>
            <a:ext cx="3364992" cy="1051560"/>
          </a:xfrm>
          <a:prstGeom prst="roundRect">
            <a:avLst>
              <a:gd name="adj" fmla="val 10435"/>
            </a:avLst>
          </a:prstGeom>
          <a:solidFill>
            <a:srgbClr val="22252A"/>
          </a:solidFill>
          <a:ln w="9525">
            <a:solidFill>
              <a:srgbClr val="3A3D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3456432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411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86384" y="374904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E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MATCH_OVERRIDE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86384" y="4050792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· Analyst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078224" y="3753612"/>
            <a:ext cx="237744" cy="274320"/>
          </a:xfrm>
          <a:prstGeom prst="chevron">
            <a:avLst/>
          </a:prstGeom>
          <a:solidFill>
            <a:srgbClr val="5D5F66"/>
          </a:solidFill>
          <a:ln/>
        </p:spPr>
      </p:sp>
      <p:sp>
        <p:nvSpPr>
          <p:cNvPr id="21" name="Shape 19"/>
          <p:cNvSpPr/>
          <p:nvPr/>
        </p:nvSpPr>
        <p:spPr>
          <a:xfrm>
            <a:off x="4389120" y="3364992"/>
            <a:ext cx="3364992" cy="1051560"/>
          </a:xfrm>
          <a:prstGeom prst="roundRect">
            <a:avLst>
              <a:gd name="adj" fmla="val 10435"/>
            </a:avLst>
          </a:prstGeom>
          <a:solidFill>
            <a:srgbClr val="22252A"/>
          </a:solidFill>
          <a:ln w="9525">
            <a:solidFill>
              <a:srgbClr val="3A3D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35424" y="3456432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412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35424" y="374904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E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DUAL_SIGN_OFF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35424" y="4050792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· Controller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827264" y="3753612"/>
            <a:ext cx="237744" cy="274320"/>
          </a:xfrm>
          <a:prstGeom prst="chevron">
            <a:avLst/>
          </a:prstGeom>
          <a:solidFill>
            <a:srgbClr val="5D5F66"/>
          </a:solidFill>
          <a:ln/>
        </p:spPr>
      </p:sp>
      <p:sp>
        <p:nvSpPr>
          <p:cNvPr id="26" name="Shape 24"/>
          <p:cNvSpPr/>
          <p:nvPr/>
        </p:nvSpPr>
        <p:spPr>
          <a:xfrm>
            <a:off x="8138160" y="3364992"/>
            <a:ext cx="3364992" cy="1051560"/>
          </a:xfrm>
          <a:prstGeom prst="roundRect">
            <a:avLst>
              <a:gd name="adj" fmla="val 10435"/>
            </a:avLst>
          </a:prstGeom>
          <a:solidFill>
            <a:srgbClr val="22252A"/>
          </a:solidFill>
          <a:ln w="9525">
            <a:solidFill>
              <a:srgbClr val="3A3D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84464" y="3456432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413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284464" y="374904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E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PERIOD_LOCK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84464" y="4050792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· Controller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4572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Hₙ = SHA256(Hₙ₋₁ ∥ Timestamp ∥ ActorRole ∥ Action ∥ EntityId ∥ StateDelta)  —  dual-key sign-off required above $10,000.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" y="51023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20" kern="0" dirty="0">
                <a:solidFill>
                  <a:srgbClr val="FBE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DEPTH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5468112"/>
            <a:ext cx="1741018" cy="365760"/>
          </a:xfrm>
          <a:prstGeom prst="roundRect">
            <a:avLst>
              <a:gd name="adj" fmla="val 50000"/>
            </a:avLst>
          </a:prstGeom>
          <a:solidFill>
            <a:srgbClr val="22252A"/>
          </a:solidFill>
          <a:ln w="9525">
            <a:solidFill>
              <a:srgbClr val="3A3D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468112"/>
            <a:ext cx="1741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role tiers (RBAC)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499970" y="5468112"/>
            <a:ext cx="1532534" cy="365760"/>
          </a:xfrm>
          <a:prstGeom prst="roundRect">
            <a:avLst>
              <a:gd name="adj" fmla="val 50000"/>
            </a:avLst>
          </a:prstGeom>
          <a:solidFill>
            <a:srgbClr val="22252A"/>
          </a:solidFill>
          <a:ln w="9525">
            <a:solidFill>
              <a:srgbClr val="3A3D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99970" y="5468112"/>
            <a:ext cx="15325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display themes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151376" y="5468112"/>
            <a:ext cx="1880006" cy="365760"/>
          </a:xfrm>
          <a:prstGeom prst="roundRect">
            <a:avLst>
              <a:gd name="adj" fmla="val 50000"/>
            </a:avLst>
          </a:prstGeom>
          <a:solidFill>
            <a:srgbClr val="22252A"/>
          </a:solidFill>
          <a:ln w="9525">
            <a:solidFill>
              <a:srgbClr val="3A3D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51376" y="5468112"/>
            <a:ext cx="18800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8-language AI copilot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50254" y="5468112"/>
            <a:ext cx="1532534" cy="365760"/>
          </a:xfrm>
          <a:prstGeom prst="roundRect">
            <a:avLst>
              <a:gd name="adj" fmla="val 50000"/>
            </a:avLst>
          </a:prstGeom>
          <a:solidFill>
            <a:srgbClr val="22252A"/>
          </a:solidFill>
          <a:ln w="9525">
            <a:solidFill>
              <a:srgbClr val="3A3D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50254" y="5468112"/>
            <a:ext cx="15325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narration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801661" y="5468112"/>
            <a:ext cx="1741018" cy="365760"/>
          </a:xfrm>
          <a:prstGeom prst="roundRect">
            <a:avLst>
              <a:gd name="adj" fmla="val 50000"/>
            </a:avLst>
          </a:prstGeom>
          <a:solidFill>
            <a:srgbClr val="22252A"/>
          </a:solidFill>
          <a:ln w="9525">
            <a:solidFill>
              <a:srgbClr val="3A3D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01661" y="5468112"/>
            <a:ext cx="1741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audit chain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661550" y="5468112"/>
            <a:ext cx="1671523" cy="365760"/>
          </a:xfrm>
          <a:prstGeom prst="roundRect">
            <a:avLst>
              <a:gd name="adj" fmla="val 50000"/>
            </a:avLst>
          </a:prstGeom>
          <a:solidFill>
            <a:srgbClr val="22252A"/>
          </a:solidFill>
          <a:ln w="9525">
            <a:solidFill>
              <a:srgbClr val="3A3D4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61550" y="5468112"/>
            <a:ext cx="16715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HackerGPT-hardened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1183112" y="6355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7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$15.52B market, and the MSME tier is wide open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2446020" cy="960120"/>
          </a:xfrm>
          <a:prstGeom prst="roundRect">
            <a:avLst>
              <a:gd name="adj" fmla="val 12381"/>
            </a:avLst>
          </a:prstGeom>
          <a:solidFill>
            <a:srgbClr val="F2F2F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2446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2446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7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$2.80B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177540" y="1613916"/>
            <a:ext cx="201168" cy="292608"/>
          </a:xfrm>
          <a:prstGeom prst="chevron">
            <a:avLst/>
          </a:prstGeom>
          <a:solidFill>
            <a:srgbClr val="979799"/>
          </a:solidFill>
          <a:ln/>
        </p:spPr>
      </p:sp>
      <p:sp>
        <p:nvSpPr>
          <p:cNvPr id="7" name="Shape 5"/>
          <p:cNvSpPr/>
          <p:nvPr/>
        </p:nvSpPr>
        <p:spPr>
          <a:xfrm>
            <a:off x="3451860" y="1280160"/>
            <a:ext cx="2446020" cy="960120"/>
          </a:xfrm>
          <a:prstGeom prst="roundRect">
            <a:avLst>
              <a:gd name="adj" fmla="val 12381"/>
            </a:avLst>
          </a:prstGeom>
          <a:solidFill>
            <a:srgbClr val="F2F2F3"/>
          </a:solidFill>
          <a:ln/>
        </p:spPr>
      </p:sp>
      <p:sp>
        <p:nvSpPr>
          <p:cNvPr id="8" name="Text 6"/>
          <p:cNvSpPr/>
          <p:nvPr/>
        </p:nvSpPr>
        <p:spPr>
          <a:xfrm>
            <a:off x="3451860" y="1371600"/>
            <a:ext cx="2446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51860" y="1627632"/>
            <a:ext cx="2446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7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$3.32B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989320" y="1613916"/>
            <a:ext cx="201168" cy="292608"/>
          </a:xfrm>
          <a:prstGeom prst="chevron">
            <a:avLst/>
          </a:prstGeom>
          <a:solidFill>
            <a:srgbClr val="979799"/>
          </a:solidFill>
          <a:ln/>
        </p:spPr>
      </p:sp>
      <p:sp>
        <p:nvSpPr>
          <p:cNvPr id="11" name="Shape 9"/>
          <p:cNvSpPr/>
          <p:nvPr/>
        </p:nvSpPr>
        <p:spPr>
          <a:xfrm>
            <a:off x="6263640" y="1280160"/>
            <a:ext cx="2446020" cy="960120"/>
          </a:xfrm>
          <a:prstGeom prst="roundRect">
            <a:avLst>
              <a:gd name="adj" fmla="val 12381"/>
            </a:avLst>
          </a:prstGeom>
          <a:solidFill>
            <a:srgbClr val="F2F2F3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371600"/>
            <a:ext cx="2446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63640" y="1627632"/>
            <a:ext cx="2446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7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$6.43B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801100" y="1613916"/>
            <a:ext cx="201168" cy="292608"/>
          </a:xfrm>
          <a:prstGeom prst="chevron">
            <a:avLst/>
          </a:prstGeom>
          <a:solidFill>
            <a:srgbClr val="979799"/>
          </a:solidFill>
          <a:ln/>
        </p:spPr>
      </p:sp>
      <p:sp>
        <p:nvSpPr>
          <p:cNvPr id="15" name="Shape 13"/>
          <p:cNvSpPr/>
          <p:nvPr/>
        </p:nvSpPr>
        <p:spPr>
          <a:xfrm>
            <a:off x="9075420" y="1280160"/>
            <a:ext cx="2446020" cy="960120"/>
          </a:xfrm>
          <a:prstGeom prst="roundRect">
            <a:avLst>
              <a:gd name="adj" fmla="val 12381"/>
            </a:avLst>
          </a:prstGeom>
          <a:solidFill>
            <a:srgbClr val="FBE1D1"/>
          </a:solidFill>
          <a:ln/>
        </p:spPr>
      </p:sp>
      <p:sp>
        <p:nvSpPr>
          <p:cNvPr id="16" name="Text 14"/>
          <p:cNvSpPr/>
          <p:nvPr/>
        </p:nvSpPr>
        <p:spPr>
          <a:xfrm>
            <a:off x="9075420" y="1371600"/>
            <a:ext cx="2446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075420" y="1627632"/>
            <a:ext cx="2446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D2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$15.52B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0080" y="24688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reconciliation software market · 18.6% CAGR · bank/cash reconciliation holds 44.3% functional share in 2026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2880360"/>
            <a:ext cx="5303520" cy="3246120"/>
          </a:xfrm>
          <a:prstGeom prst="roundRect">
            <a:avLst>
              <a:gd name="adj" fmla="val 4507"/>
            </a:avLst>
          </a:prstGeom>
          <a:solidFill>
            <a:srgbClr val="F2F2F3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0632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INDIAN MSME OPPORTUNITY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34290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5D2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63.4M+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2423160" y="34747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MSMEs contributing ~30% of India's GDP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41148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5D2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29%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2423160" y="41605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tech-savvy MSMEs use any accounting software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4800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5D2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97% / 43%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2423160" y="48463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WhatsApp Business / UPI — infrastructure is ready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5486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5D2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68%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2423160" y="55321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growth post-digitalization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2880360"/>
            <a:ext cx="5394960" cy="3246120"/>
          </a:xfrm>
          <a:prstGeom prst="roundRect">
            <a:avLst>
              <a:gd name="adj" fmla="val 4507"/>
            </a:avLst>
          </a:prstGeom>
          <a:solidFill>
            <a:srgbClr val="17191C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30632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FBE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WHITE SPACE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46520" y="34107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incumbents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46520" y="372160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Oracle, SAP, Trintech — six-figure deployments, priced for Fortune 500 balance sheets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46520" y="43251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tier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46520" y="463600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Spreadsheets, paper ledgers, basic Tally/Busy — zero automation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46520" y="52395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E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TallyBook's sweet spot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46520" y="555040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Autonomous, multi-pass precision at MSME-accessible pricing — the gap nobody else fills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183112" y="6355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7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bottom-up flywheel — not top-down enterprise sales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2446020" cy="1188720"/>
          </a:xfrm>
          <a:prstGeom prst="roundRect">
            <a:avLst>
              <a:gd name="adj" fmla="val 10000"/>
            </a:avLst>
          </a:prstGeom>
          <a:solidFill>
            <a:srgbClr val="F2F2F3"/>
          </a:solidFill>
          <a:ln/>
        </p:spPr>
      </p:sp>
      <p:sp>
        <p:nvSpPr>
          <p:cNvPr id="4" name="Text 2"/>
          <p:cNvSpPr/>
          <p:nvPr/>
        </p:nvSpPr>
        <p:spPr>
          <a:xfrm>
            <a:off x="768096" y="1344168"/>
            <a:ext cx="21899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68096" y="1691640"/>
            <a:ext cx="21899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 regional beachhead, &lt; 2 min first-run setup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131820" y="1682496"/>
            <a:ext cx="274320" cy="292608"/>
          </a:xfrm>
          <a:prstGeom prst="chevron">
            <a:avLst/>
          </a:prstGeom>
          <a:solidFill>
            <a:srgbClr val="979799"/>
          </a:solidFill>
          <a:ln/>
        </p:spPr>
      </p:sp>
      <p:sp>
        <p:nvSpPr>
          <p:cNvPr id="7" name="Shape 5"/>
          <p:cNvSpPr/>
          <p:nvPr/>
        </p:nvSpPr>
        <p:spPr>
          <a:xfrm>
            <a:off x="3451860" y="1234440"/>
            <a:ext cx="2446020" cy="1188720"/>
          </a:xfrm>
          <a:prstGeom prst="roundRect">
            <a:avLst>
              <a:gd name="adj" fmla="val 10000"/>
            </a:avLst>
          </a:prstGeom>
          <a:solidFill>
            <a:srgbClr val="F2F2F3"/>
          </a:solidFill>
          <a:ln/>
        </p:spPr>
      </p:sp>
      <p:sp>
        <p:nvSpPr>
          <p:cNvPr id="8" name="Text 6"/>
          <p:cNvSpPr/>
          <p:nvPr/>
        </p:nvSpPr>
        <p:spPr>
          <a:xfrm>
            <a:off x="3579876" y="1344168"/>
            <a:ext cx="21899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579876" y="1691640"/>
            <a:ext cx="21899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 trade clusters, supplier/customer referrals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0" y="1682496"/>
            <a:ext cx="274320" cy="292608"/>
          </a:xfrm>
          <a:prstGeom prst="chevron">
            <a:avLst/>
          </a:prstGeom>
          <a:solidFill>
            <a:srgbClr val="979799"/>
          </a:solidFill>
          <a:ln/>
        </p:spPr>
      </p:sp>
      <p:sp>
        <p:nvSpPr>
          <p:cNvPr id="11" name="Shape 9"/>
          <p:cNvSpPr/>
          <p:nvPr/>
        </p:nvSpPr>
        <p:spPr>
          <a:xfrm>
            <a:off x="6263640" y="1234440"/>
            <a:ext cx="2446020" cy="1188720"/>
          </a:xfrm>
          <a:prstGeom prst="roundRect">
            <a:avLst>
              <a:gd name="adj" fmla="val 10000"/>
            </a:avLst>
          </a:prstGeom>
          <a:solidFill>
            <a:srgbClr val="FBE1D1"/>
          </a:solidFill>
          <a:ln/>
        </p:spPr>
      </p:sp>
      <p:sp>
        <p:nvSpPr>
          <p:cNvPr id="12" name="Text 10"/>
          <p:cNvSpPr/>
          <p:nvPr/>
        </p:nvSpPr>
        <p:spPr>
          <a:xfrm>
            <a:off x="6391656" y="1344168"/>
            <a:ext cx="21899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D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Upmarket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91656" y="1691640"/>
            <a:ext cx="21899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D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 practice distributes to 50–100 client books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755380" y="1682496"/>
            <a:ext cx="274320" cy="292608"/>
          </a:xfrm>
          <a:prstGeom prst="chevron">
            <a:avLst/>
          </a:prstGeom>
          <a:solidFill>
            <a:srgbClr val="979799"/>
          </a:solidFill>
          <a:ln/>
        </p:spPr>
      </p:sp>
      <p:sp>
        <p:nvSpPr>
          <p:cNvPr id="15" name="Shape 13"/>
          <p:cNvSpPr/>
          <p:nvPr/>
        </p:nvSpPr>
        <p:spPr>
          <a:xfrm>
            <a:off x="9075420" y="1234440"/>
            <a:ext cx="2446020" cy="1188720"/>
          </a:xfrm>
          <a:prstGeom prst="roundRect">
            <a:avLst>
              <a:gd name="adj" fmla="val 10000"/>
            </a:avLst>
          </a:prstGeom>
          <a:solidFill>
            <a:srgbClr val="F2F2F3"/>
          </a:solidFill>
          <a:ln/>
        </p:spPr>
      </p:sp>
      <p:sp>
        <p:nvSpPr>
          <p:cNvPr id="16" name="Text 14"/>
          <p:cNvSpPr/>
          <p:nvPr/>
        </p:nvSpPr>
        <p:spPr>
          <a:xfrm>
            <a:off x="9203436" y="1344168"/>
            <a:ext cx="21899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203436" y="1691640"/>
            <a:ext cx="21899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alerts (97% reach), SEO content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298430" y="2423160"/>
            <a:ext cx="9144" cy="320040"/>
          </a:xfrm>
          <a:prstGeom prst="line">
            <a:avLst/>
          </a:prstGeom>
          <a:noFill/>
          <a:ln w="19050">
            <a:solidFill>
              <a:srgbClr val="5D2A1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 flipH="1">
            <a:off x="1863090" y="2743200"/>
            <a:ext cx="8435340" cy="9144"/>
          </a:xfrm>
          <a:prstGeom prst="line">
            <a:avLst/>
          </a:prstGeom>
          <a:noFill/>
          <a:ln w="19050">
            <a:solidFill>
              <a:srgbClr val="5D2A1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V="1">
            <a:off x="1863090" y="2423160"/>
            <a:ext cx="9144" cy="320040"/>
          </a:xfrm>
          <a:prstGeom prst="line">
            <a:avLst/>
          </a:prstGeom>
          <a:noFill/>
          <a:ln w="19050">
            <a:solidFill>
              <a:srgbClr val="5D2A1A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863090" y="2798064"/>
            <a:ext cx="8435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D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regional demand loop — Sustain feeds new founders back into Land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" y="3337560"/>
            <a:ext cx="5303520" cy="2834640"/>
          </a:xfrm>
          <a:prstGeom prst="roundRect">
            <a:avLst>
              <a:gd name="adj" fmla="val 5161"/>
            </a:avLst>
          </a:prstGeom>
          <a:solidFill>
            <a:srgbClr val="F2F2F3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352958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20" kern="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4400" y="3941064"/>
            <a:ext cx="64008" cy="64008"/>
          </a:xfrm>
          <a:prstGeom prst="ellipse">
            <a:avLst/>
          </a:prstGeom>
          <a:solidFill>
            <a:srgbClr val="5D2A1A"/>
          </a:solidFill>
          <a:ln/>
        </p:spPr>
      </p:sp>
      <p:sp>
        <p:nvSpPr>
          <p:cNvPr id="25" name="Text 23"/>
          <p:cNvSpPr/>
          <p:nvPr/>
        </p:nvSpPr>
        <p:spPr>
          <a:xfrm>
            <a:off x="1078992" y="3822192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Multi-currency, real-time FX support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14400" y="4471416"/>
            <a:ext cx="64008" cy="64008"/>
          </a:xfrm>
          <a:prstGeom prst="ellipse">
            <a:avLst/>
          </a:prstGeom>
          <a:solidFill>
            <a:srgbClr val="5D2A1A"/>
          </a:solidFill>
          <a:ln/>
        </p:spPr>
      </p:sp>
      <p:sp>
        <p:nvSpPr>
          <p:cNvPr id="27" name="Text 25"/>
          <p:cNvSpPr/>
          <p:nvPr/>
        </p:nvSpPr>
        <p:spPr>
          <a:xfrm>
            <a:off x="1078992" y="4352544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commercial banking open-API webhooks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4400" y="5001768"/>
            <a:ext cx="64008" cy="64008"/>
          </a:xfrm>
          <a:prstGeom prst="ellipse">
            <a:avLst/>
          </a:prstGeom>
          <a:solidFill>
            <a:srgbClr val="5D2A1A"/>
          </a:solidFill>
          <a:ln/>
        </p:spPr>
      </p:sp>
      <p:sp>
        <p:nvSpPr>
          <p:cNvPr id="29" name="Text 27"/>
          <p:cNvSpPr/>
          <p:nvPr/>
        </p:nvSpPr>
        <p:spPr>
          <a:xfrm>
            <a:off x="1078992" y="488289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GSTN reconciliation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14400" y="5532120"/>
            <a:ext cx="64008" cy="64008"/>
          </a:xfrm>
          <a:prstGeom prst="ellipse">
            <a:avLst/>
          </a:prstGeom>
          <a:solidFill>
            <a:srgbClr val="5D2A1A"/>
          </a:solidFill>
          <a:ln/>
        </p:spPr>
      </p:sp>
      <p:sp>
        <p:nvSpPr>
          <p:cNvPr id="31" name="Text 29"/>
          <p:cNvSpPr/>
          <p:nvPr/>
        </p:nvSpPr>
        <p:spPr>
          <a:xfrm>
            <a:off x="1078992" y="541324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CA/audit-firm multi-entity tooling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72200" y="3337560"/>
            <a:ext cx="5394960" cy="2834640"/>
          </a:xfrm>
          <a:prstGeom prst="roundRect">
            <a:avLst>
              <a:gd name="adj" fmla="val 5161"/>
            </a:avLst>
          </a:prstGeom>
          <a:solidFill>
            <a:srgbClr val="17191C"/>
          </a:solidFill>
          <a:ln/>
        </p:spPr>
      </p:sp>
      <p:sp>
        <p:nvSpPr>
          <p:cNvPr id="33" name="Text 31"/>
          <p:cNvSpPr/>
          <p:nvPr/>
        </p:nvSpPr>
        <p:spPr>
          <a:xfrm>
            <a:off x="6446520" y="35295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20" kern="0" dirty="0">
                <a:solidFill>
                  <a:srgbClr val="FBE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46520" y="3941064"/>
            <a:ext cx="64008" cy="64008"/>
          </a:xfrm>
          <a:prstGeom prst="ellipse">
            <a:avLst/>
          </a:prstGeom>
          <a:solidFill>
            <a:srgbClr val="FBE1D1"/>
          </a:solidFill>
          <a:ln/>
        </p:spPr>
      </p:sp>
      <p:sp>
        <p:nvSpPr>
          <p:cNvPr id="35" name="Text 33"/>
          <p:cNvSpPr/>
          <p:nvPr/>
        </p:nvSpPr>
        <p:spPr>
          <a:xfrm>
            <a:off x="6611112" y="382219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+ React 19 / TypeScript / Tailwind v4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46520" y="4398264"/>
            <a:ext cx="64008" cy="64008"/>
          </a:xfrm>
          <a:prstGeom prst="ellipse">
            <a:avLst/>
          </a:prstGeom>
          <a:solidFill>
            <a:srgbClr val="FBE1D1"/>
          </a:solidFill>
          <a:ln/>
        </p:spPr>
      </p:sp>
      <p:sp>
        <p:nvSpPr>
          <p:cNvPr id="37" name="Text 35"/>
          <p:cNvSpPr/>
          <p:nvPr/>
        </p:nvSpPr>
        <p:spPr>
          <a:xfrm>
            <a:off x="6611112" y="427939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3.3 70B for runtime semantic reasoning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46520" y="4855464"/>
            <a:ext cx="64008" cy="64008"/>
          </a:xfrm>
          <a:prstGeom prst="ellipse">
            <a:avLst/>
          </a:prstGeom>
          <a:solidFill>
            <a:srgbClr val="FBE1D1"/>
          </a:solidFill>
          <a:ln/>
        </p:spPr>
      </p:sp>
      <p:sp>
        <p:nvSpPr>
          <p:cNvPr id="39" name="Text 37"/>
          <p:cNvSpPr/>
          <p:nvPr/>
        </p:nvSpPr>
        <p:spPr>
          <a:xfrm>
            <a:off x="6611112" y="473659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+ role middleware (controller, analyst, auditor, admin)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46520" y="5312664"/>
            <a:ext cx="64008" cy="64008"/>
          </a:xfrm>
          <a:prstGeom prst="ellipse">
            <a:avLst/>
          </a:prstGeom>
          <a:solidFill>
            <a:srgbClr val="FBE1D1"/>
          </a:solidFill>
          <a:ln/>
        </p:spPr>
      </p:sp>
      <p:sp>
        <p:nvSpPr>
          <p:cNvPr id="41" name="Text 39"/>
          <p:cNvSpPr/>
          <p:nvPr/>
        </p:nvSpPr>
        <p:spPr>
          <a:xfrm>
            <a:off x="6611112" y="519379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HackerGPT-audited — zero critical/high vulns post-fix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46520" y="5769864"/>
            <a:ext cx="64008" cy="64008"/>
          </a:xfrm>
          <a:prstGeom prst="ellipse">
            <a:avLst/>
          </a:prstGeom>
          <a:solidFill>
            <a:srgbClr val="FBE1D1"/>
          </a:solidFill>
          <a:ln/>
        </p:spPr>
      </p:sp>
      <p:sp>
        <p:nvSpPr>
          <p:cNvPr id="43" name="Text 41"/>
          <p:cNvSpPr/>
          <p:nvPr/>
        </p:nvSpPr>
        <p:spPr>
          <a:xfrm>
            <a:off x="6611112" y="565099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AI tool usage log in AI_USAGE_AND_DEVELOPMENT_LOG.md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1183112" y="6355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2026-09-05T16:42:19Z</dcterms:created>
  <dcterms:modified xsi:type="dcterms:W3CDTF">2026-09-05T16:42:19Z</dcterms:modified>
</cp:coreProperties>
</file>